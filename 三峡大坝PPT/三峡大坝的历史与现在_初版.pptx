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hree_gorges_cover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hree_gorges_cover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10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hape 2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B2440">
              <a:alpha val="8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713232" y="4187952"/>
            <a:ext cx="2194560" cy="50292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658368" y="269748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3200" b="1">
                <a:latin typeface="Microsoft YaHei"/>
                <a:ea typeface="Microsoft YaHei"/>
                <a:cs typeface="Microsoft YaHei"/>
                <a:solidFill>
                  <a:srgbClr val="FFFFFF"/>
                </a:solidFill>
              </a:rPr>
              <a:t>三峡大坝的历史与现在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4944" y="3547872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1600" b="0">
                <a:latin typeface="Microsoft YaHei"/>
                <a:ea typeface="Microsoft YaHei"/>
                <a:cs typeface="Microsoft YaHei"/>
                <a:solidFill>
                  <a:srgbClr val="E9F2F7"/>
                </a:solidFill>
              </a:rPr>
              <a:t>党领导下的国家重大水利工程实践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3232" y="461772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1300" b="0">
                <a:latin typeface="Microsoft YaHei"/>
                <a:ea typeface="Microsoft YaHei"/>
                <a:cs typeface="Microsoft YaHei"/>
                <a:solidFill>
                  <a:srgbClr val="CFE7EA"/>
                </a:solidFill>
              </a:rPr>
              <a:t>从治水兴邦到现代化流域治理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TextBox 11"/>
          <p:cNvSpPr txBox="1"/>
          <p:nvPr/>
        </p:nvSpPr>
        <p:spPr>
          <a:xfrm>
            <a:off x="548640" y="256032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6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一江安澜：三峡工程建设的时代背景</a:t>
            </a:r>
          </a:p>
        </p:txBody>
      </p:sp>
      <p:sp>
        <p:nvSpPr>
          <p:cNvPr id="12" name="Shape 12"/>
          <p:cNvSpPr/>
          <p:nvPr/>
        </p:nvSpPr>
        <p:spPr>
          <a:xfrm>
            <a:off x="566928" y="841248"/>
            <a:ext cx="1554480" cy="45720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685800" y="5349240"/>
            <a:ext cx="1600200" cy="411480"/>
          </a:xfrm>
          <a:prstGeom prst="round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685800" y="538581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200" b="1">
                <a:latin typeface="Microsoft YaHei"/>
                <a:ea typeface="Microsoft YaHei"/>
                <a:cs typeface="Microsoft YaHei"/>
                <a:solidFill>
                  <a:srgbClr val="FFFFFF"/>
                </a:solidFill>
              </a:rPr>
              <a:t>防洪安全</a:t>
            </a:r>
          </a:p>
        </p:txBody>
      </p:sp>
      <p:sp>
        <p:nvSpPr>
          <p:cNvPr id="31" name="Shape 31"/>
          <p:cNvSpPr/>
          <p:nvPr/>
        </p:nvSpPr>
        <p:spPr>
          <a:xfrm>
            <a:off x="2651760" y="5349240"/>
            <a:ext cx="1600200" cy="411480"/>
          </a:xfrm>
          <a:prstGeom prst="roundRect">
            <a:avLst/>
          </a:prstGeom>
          <a:solidFill>
            <a:srgbClr val="1E7F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2651760" y="538581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200" b="1">
                <a:latin typeface="Microsoft YaHei"/>
                <a:ea typeface="Microsoft YaHei"/>
                <a:cs typeface="Microsoft YaHei"/>
                <a:solidFill>
                  <a:srgbClr val="FFFFFF"/>
                </a:solidFill>
              </a:rPr>
              <a:t>清洁能源</a:t>
            </a:r>
          </a:p>
        </p:txBody>
      </p:sp>
      <p:sp>
        <p:nvSpPr>
          <p:cNvPr id="32" name="Shape 32"/>
          <p:cNvSpPr/>
          <p:nvPr/>
        </p:nvSpPr>
        <p:spPr>
          <a:xfrm>
            <a:off x="4617720" y="5349240"/>
            <a:ext cx="1600200" cy="411480"/>
          </a:xfrm>
          <a:prstGeom prst="roundRect">
            <a:avLst/>
          </a:prstGeom>
          <a:solidFill>
            <a:srgbClr val="1234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4617720" y="538581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200" b="1">
                <a:latin typeface="Microsoft YaHei"/>
                <a:ea typeface="Microsoft YaHei"/>
                <a:cs typeface="Microsoft YaHei"/>
                <a:solidFill>
                  <a:srgbClr val="FFFFFF"/>
                </a:solidFill>
              </a:rPr>
              <a:t>黄金水道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40080" y="1234440"/>
            <a:ext cx="5029200" cy="3383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1600" b="0">
                <a:latin typeface="Microsoft YaHei"/>
                <a:ea typeface="Microsoft YaHei"/>
                <a:cs typeface="Microsoft YaHei"/>
                <a:solidFill>
                  <a:srgbClr val="263645"/>
                </a:solidFill>
              </a:rPr>
              <a:t>• 长江干流全长约6300公里，是我国重要经济轴线</a:t>
            </a:r>
          </a:p>
          <a:p>
            <a:pPr algn="l"/>
            <a:r>
              <a:rPr lang="zh-CN" sz="1600" b="0">
                <a:latin typeface="Microsoft YaHei"/>
                <a:ea typeface="Microsoft YaHei"/>
                <a:cs typeface="Microsoft YaHei"/>
                <a:solidFill>
                  <a:srgbClr val="263645"/>
                </a:solidFill>
              </a:rPr>
              <a:t>• 中下游人口密集、产业集中，防洪安全关系全局</a:t>
            </a:r>
          </a:p>
          <a:p>
            <a:pPr algn="l"/>
            <a:r>
              <a:rPr lang="zh-CN" sz="1600" b="0">
                <a:latin typeface="Microsoft YaHei"/>
                <a:ea typeface="Microsoft YaHei"/>
                <a:cs typeface="Microsoft YaHei"/>
                <a:solidFill>
                  <a:srgbClr val="263645"/>
                </a:solidFill>
              </a:rPr>
              <a:t>• 工程承担防洪、发电、航运、水资源调度等综合任务</a:t>
            </a:r>
          </a:p>
          <a:p>
            <a:pPr algn="l"/>
            <a:r>
              <a:rPr lang="zh-CN" sz="1600" b="0">
                <a:latin typeface="Microsoft YaHei"/>
                <a:ea typeface="Microsoft YaHei"/>
                <a:cs typeface="Microsoft YaHei"/>
                <a:solidFill>
                  <a:srgbClr val="263645"/>
                </a:solidFill>
              </a:rPr>
              <a:t>• 根本出发点是保障人民生命财产安全、服务国家发展大局</a:t>
            </a:r>
          </a:p>
        </p:txBody>
      </p:sp>
      <p:sp>
        <p:nvSpPr>
          <p:cNvPr id="60" name="Shape 60"/>
          <p:cNvSpPr/>
          <p:nvPr/>
        </p:nvSpPr>
        <p:spPr>
          <a:xfrm>
            <a:off x="6492240" y="1078992"/>
            <a:ext cx="4846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6720840" y="1298448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5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长江流域与三峡位置示意</a:t>
            </a:r>
          </a:p>
        </p:txBody>
      </p:sp>
      <p:cxnSp>
        <p:nvCxnSpPr>
          <p:cNvPr id="62" name="Line 62"/>
          <p:cNvCxnSpPr/>
          <p:nvPr/>
        </p:nvCxnSpPr>
        <p:spPr>
          <a:xfrm>
            <a:off x="6995160" y="2423160"/>
            <a:ext cx="3657600" cy="2011680"/>
          </a:xfrm>
          <a:prstGeom prst="line">
            <a:avLst/>
          </a:prstGeom>
          <a:ln w="76200">
            <a:solidFill>
              <a:srgbClr val="1E7F86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7452360" y="3456432"/>
            <a:ext cx="1783080" cy="338328"/>
          </a:xfrm>
          <a:prstGeom prst="line">
            <a:avLst/>
          </a:prstGeom>
          <a:ln w="38100">
            <a:solidFill>
              <a:srgbClr val="1E7F86"/>
            </a:solidFill>
          </a:ln>
        </p:spPr>
      </p:cxnSp>
      <p:sp>
        <p:nvSpPr>
          <p:cNvPr id="64" name="Shape 64"/>
          <p:cNvSpPr/>
          <p:nvPr/>
        </p:nvSpPr>
        <p:spPr>
          <a:xfrm>
            <a:off x="8366760" y="3154680"/>
            <a:ext cx="228600" cy="228600"/>
          </a:xfrm>
          <a:prstGeom prst="round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extBox 65"/>
          <p:cNvSpPr txBox="1"/>
          <p:nvPr/>
        </p:nvSpPr>
        <p:spPr>
          <a:xfrm>
            <a:off x="8613648" y="3054096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1100" b="1">
                <a:latin typeface="Microsoft YaHei"/>
                <a:ea typeface="Microsoft YaHei"/>
                <a:cs typeface="Microsoft YaHei"/>
                <a:solidFill>
                  <a:srgbClr val="C51F2C"/>
                </a:solidFill>
              </a:rPr>
              <a:t>三峡坝址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903720" y="466344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200" b="0">
                <a:latin typeface="Microsoft YaHei"/>
                <a:ea typeface="Microsoft YaHei"/>
                <a:cs typeface="Microsoft YaHei"/>
                <a:solidFill>
                  <a:srgbClr val="637381"/>
                </a:solidFill>
              </a:rPr>
              <a:t>上游调蓄、下游防洪、全流域协同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411480" y="64465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9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02</a:t>
            </a:r>
          </a:p>
        </p:txBody>
      </p:sp>
      <p:sp>
        <p:nvSpPr>
          <p:cNvPr id="952" name="TextBox 952"/>
          <p:cNvSpPr txBox="1"/>
          <p:nvPr/>
        </p:nvSpPr>
        <p:spPr>
          <a:xfrm>
            <a:off x="9144000" y="64465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/>
            <a:r>
              <a:rPr lang="zh-CN" sz="8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三峡大坝的历史与现在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TextBox 11"/>
          <p:cNvSpPr txBox="1"/>
          <p:nvPr/>
        </p:nvSpPr>
        <p:spPr>
          <a:xfrm>
            <a:off x="548640" y="256032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6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百年构想：从治水设想到国家决策</a:t>
            </a:r>
          </a:p>
        </p:txBody>
      </p:sp>
      <p:sp>
        <p:nvSpPr>
          <p:cNvPr id="12" name="Shape 12"/>
          <p:cNvSpPr/>
          <p:nvPr/>
        </p:nvSpPr>
        <p:spPr>
          <a:xfrm>
            <a:off x="566928" y="841248"/>
            <a:ext cx="1554480" cy="45720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Shape 70"/>
          <p:cNvSpPr/>
          <p:nvPr/>
        </p:nvSpPr>
        <p:spPr>
          <a:xfrm>
            <a:off x="822960" y="1965960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80" name="Shape 80"/>
          <p:cNvSpPr/>
          <p:nvPr/>
        </p:nvSpPr>
        <p:spPr>
          <a:xfrm>
            <a:off x="822960" y="1965960"/>
            <a:ext cx="2240280" cy="109728"/>
          </a:xfrm>
          <a:prstGeom prst="rect">
            <a:avLst/>
          </a:prstGeom>
          <a:solidFill>
            <a:srgbClr val="1E7F8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TextBox 90"/>
          <p:cNvSpPr txBox="1"/>
          <p:nvPr/>
        </p:nvSpPr>
        <p:spPr>
          <a:xfrm>
            <a:off x="987552" y="226771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8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早期设想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042416" y="2834640"/>
            <a:ext cx="181051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200" b="0">
                <a:latin typeface="Microsoft YaHei"/>
                <a:ea typeface="Microsoft YaHei"/>
                <a:cs typeface="Microsoft YaHei"/>
                <a:solidFill>
                  <a:srgbClr val="3B4A59"/>
                </a:solidFill>
              </a:rPr>
              <a:t>围绕长江治水与水能开发，形成三峡工程构想</a:t>
            </a:r>
          </a:p>
        </p:txBody>
      </p:sp>
      <p:sp>
        <p:nvSpPr>
          <p:cNvPr id="71" name="Shape 71"/>
          <p:cNvSpPr/>
          <p:nvPr/>
        </p:nvSpPr>
        <p:spPr>
          <a:xfrm>
            <a:off x="3611879" y="1965960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81" name="Shape 81"/>
          <p:cNvSpPr/>
          <p:nvPr/>
        </p:nvSpPr>
        <p:spPr>
          <a:xfrm>
            <a:off x="3611879" y="1965960"/>
            <a:ext cx="2240280" cy="109728"/>
          </a:xfrm>
          <a:prstGeom prst="rect">
            <a:avLst/>
          </a:prstGeom>
          <a:solidFill>
            <a:srgbClr val="1E7F86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TextBox 91"/>
          <p:cNvSpPr txBox="1"/>
          <p:nvPr/>
        </p:nvSpPr>
        <p:spPr>
          <a:xfrm>
            <a:off x="3776472" y="226771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8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系统论证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3831335" y="2834640"/>
            <a:ext cx="181051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200" b="0">
                <a:latin typeface="Microsoft YaHei"/>
                <a:ea typeface="Microsoft YaHei"/>
                <a:cs typeface="Microsoft YaHei"/>
                <a:solidFill>
                  <a:srgbClr val="3B4A59"/>
                </a:solidFill>
              </a:rPr>
              <a:t>新中国成立后持续开展勘测、规划与科学研究</a:t>
            </a:r>
          </a:p>
        </p:txBody>
      </p:sp>
      <p:sp>
        <p:nvSpPr>
          <p:cNvPr id="72" name="Shape 72"/>
          <p:cNvSpPr/>
          <p:nvPr/>
        </p:nvSpPr>
        <p:spPr>
          <a:xfrm>
            <a:off x="6400800" y="1965960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82" name="Shape 82"/>
          <p:cNvSpPr/>
          <p:nvPr/>
        </p:nvSpPr>
        <p:spPr>
          <a:xfrm>
            <a:off x="6400800" y="1965960"/>
            <a:ext cx="2240280" cy="109728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TextBox 92"/>
          <p:cNvSpPr txBox="1"/>
          <p:nvPr/>
        </p:nvSpPr>
        <p:spPr>
          <a:xfrm>
            <a:off x="6565392" y="226771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8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国家决策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620256" y="2834640"/>
            <a:ext cx="181051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200" b="0">
                <a:latin typeface="Microsoft YaHei"/>
                <a:ea typeface="Microsoft YaHei"/>
                <a:cs typeface="Microsoft YaHei"/>
                <a:solidFill>
                  <a:srgbClr val="3B4A59"/>
                </a:solidFill>
              </a:rPr>
              <a:t>1992年全国人大审议通过兴建三峡工程决议</a:t>
            </a:r>
          </a:p>
        </p:txBody>
      </p:sp>
      <p:sp>
        <p:nvSpPr>
          <p:cNvPr id="73" name="Shape 73"/>
          <p:cNvSpPr/>
          <p:nvPr/>
        </p:nvSpPr>
        <p:spPr>
          <a:xfrm>
            <a:off x="9189719" y="1965960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83" name="Shape 83"/>
          <p:cNvSpPr/>
          <p:nvPr/>
        </p:nvSpPr>
        <p:spPr>
          <a:xfrm>
            <a:off x="9189719" y="1965960"/>
            <a:ext cx="2240280" cy="109728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TextBox 93"/>
          <p:cNvSpPr txBox="1"/>
          <p:nvPr/>
        </p:nvSpPr>
        <p:spPr>
          <a:xfrm>
            <a:off x="9354311" y="226771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8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正式开工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9409176" y="2834640"/>
            <a:ext cx="1810512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200" b="0">
                <a:latin typeface="Microsoft YaHei"/>
                <a:ea typeface="Microsoft YaHei"/>
                <a:cs typeface="Microsoft YaHei"/>
                <a:solidFill>
                  <a:srgbClr val="3B4A59"/>
                </a:solidFill>
              </a:rPr>
              <a:t>1994年工程开工，百年构想进入实施阶段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960120" y="4709160"/>
            <a:ext cx="10287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8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从设想到落地，体现党和国家对重大工程、重大民生、重大安全问题的长期谋划能力。</a:t>
            </a:r>
          </a:p>
        </p:txBody>
      </p:sp>
      <p:sp>
        <p:nvSpPr>
          <p:cNvPr id="903" name="TextBox 903"/>
          <p:cNvSpPr txBox="1"/>
          <p:nvPr/>
        </p:nvSpPr>
        <p:spPr>
          <a:xfrm>
            <a:off x="411480" y="64465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9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03</a:t>
            </a:r>
          </a:p>
        </p:txBody>
      </p:sp>
      <p:sp>
        <p:nvSpPr>
          <p:cNvPr id="953" name="TextBox 953"/>
          <p:cNvSpPr txBox="1"/>
          <p:nvPr/>
        </p:nvSpPr>
        <p:spPr>
          <a:xfrm>
            <a:off x="9144000" y="64465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/>
            <a:r>
              <a:rPr lang="zh-CN" sz="8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三峡大坝的历史与现在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TextBox 11"/>
          <p:cNvSpPr txBox="1"/>
          <p:nvPr/>
        </p:nvSpPr>
        <p:spPr>
          <a:xfrm>
            <a:off x="548640" y="256032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6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攻坚克难：三峡工程建设历程</a:t>
            </a:r>
          </a:p>
        </p:txBody>
      </p:sp>
      <p:sp>
        <p:nvSpPr>
          <p:cNvPr id="12" name="Shape 12"/>
          <p:cNvSpPr/>
          <p:nvPr/>
        </p:nvSpPr>
        <p:spPr>
          <a:xfrm>
            <a:off x="566928" y="841248"/>
            <a:ext cx="1554480" cy="45720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0" name="Line 130"/>
          <p:cNvCxnSpPr/>
          <p:nvPr/>
        </p:nvCxnSpPr>
        <p:spPr>
          <a:xfrm>
            <a:off x="1005840" y="3108960"/>
            <a:ext cx="9966960" cy="0"/>
          </a:xfrm>
          <a:prstGeom prst="line">
            <a:avLst/>
          </a:prstGeom>
          <a:ln w="50800">
            <a:solidFill>
              <a:srgbClr val="1E7F86"/>
            </a:solidFill>
          </a:ln>
        </p:spPr>
      </p:cxnSp>
      <p:sp>
        <p:nvSpPr>
          <p:cNvPr id="140" name="Shape 140"/>
          <p:cNvSpPr/>
          <p:nvPr/>
        </p:nvSpPr>
        <p:spPr>
          <a:xfrm>
            <a:off x="960120" y="2907792"/>
            <a:ext cx="402336" cy="402336"/>
          </a:xfrm>
          <a:prstGeom prst="round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TextBox 150"/>
          <p:cNvSpPr txBox="1"/>
          <p:nvPr/>
        </p:nvSpPr>
        <p:spPr>
          <a:xfrm>
            <a:off x="548640" y="210312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8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1992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393192" y="2487168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050" b="0">
                <a:latin typeface="Microsoft YaHei"/>
                <a:ea typeface="Microsoft YaHei"/>
                <a:cs typeface="Microsoft YaHei"/>
                <a:solidFill>
                  <a:srgbClr val="3B4A59"/>
                </a:solidFill>
              </a:rPr>
              <a:t>批准建设</a:t>
            </a:r>
          </a:p>
        </p:txBody>
      </p:sp>
      <p:sp>
        <p:nvSpPr>
          <p:cNvPr id="141" name="Shape 141"/>
          <p:cNvSpPr/>
          <p:nvPr/>
        </p:nvSpPr>
        <p:spPr>
          <a:xfrm>
            <a:off x="2926080" y="2907792"/>
            <a:ext cx="402336" cy="402336"/>
          </a:xfrm>
          <a:prstGeom prst="roundRect">
            <a:avLst/>
          </a:prstGeom>
          <a:solidFill>
            <a:srgbClr val="1E7F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TextBox 151"/>
          <p:cNvSpPr txBox="1"/>
          <p:nvPr/>
        </p:nvSpPr>
        <p:spPr>
          <a:xfrm>
            <a:off x="2514600" y="347472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8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1994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2359152" y="3858768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050" b="0">
                <a:latin typeface="Microsoft YaHei"/>
                <a:ea typeface="Microsoft YaHei"/>
                <a:cs typeface="Microsoft YaHei"/>
                <a:solidFill>
                  <a:srgbClr val="3B4A59"/>
                </a:solidFill>
              </a:rPr>
              <a:t>正式开工</a:t>
            </a:r>
          </a:p>
        </p:txBody>
      </p:sp>
      <p:sp>
        <p:nvSpPr>
          <p:cNvPr id="142" name="Shape 142"/>
          <p:cNvSpPr/>
          <p:nvPr/>
        </p:nvSpPr>
        <p:spPr>
          <a:xfrm>
            <a:off x="4892040" y="2907792"/>
            <a:ext cx="402336" cy="402336"/>
          </a:xfrm>
          <a:prstGeom prst="roundRect">
            <a:avLst/>
          </a:prstGeom>
          <a:solidFill>
            <a:srgbClr val="1E7F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TextBox 152"/>
          <p:cNvSpPr txBox="1"/>
          <p:nvPr/>
        </p:nvSpPr>
        <p:spPr>
          <a:xfrm>
            <a:off x="4480559" y="210312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8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1997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4325112" y="2487168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050" b="0">
                <a:latin typeface="Microsoft YaHei"/>
                <a:ea typeface="Microsoft YaHei"/>
                <a:cs typeface="Microsoft YaHei"/>
                <a:solidFill>
                  <a:srgbClr val="3B4A59"/>
                </a:solidFill>
              </a:rPr>
              <a:t>大江截流</a:t>
            </a:r>
          </a:p>
        </p:txBody>
      </p:sp>
      <p:sp>
        <p:nvSpPr>
          <p:cNvPr id="143" name="Shape 143"/>
          <p:cNvSpPr/>
          <p:nvPr/>
        </p:nvSpPr>
        <p:spPr>
          <a:xfrm>
            <a:off x="6857999" y="2907792"/>
            <a:ext cx="402336" cy="402336"/>
          </a:xfrm>
          <a:prstGeom prst="round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TextBox 153"/>
          <p:cNvSpPr txBox="1"/>
          <p:nvPr/>
        </p:nvSpPr>
        <p:spPr>
          <a:xfrm>
            <a:off x="6446519" y="347472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8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2003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6291071" y="3858768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050" b="0">
                <a:latin typeface="Microsoft YaHei"/>
                <a:ea typeface="Microsoft YaHei"/>
                <a:cs typeface="Microsoft YaHei"/>
                <a:solidFill>
                  <a:srgbClr val="3B4A59"/>
                </a:solidFill>
              </a:rPr>
              <a:t>首批发电
船闸通航</a:t>
            </a:r>
          </a:p>
        </p:txBody>
      </p:sp>
      <p:sp>
        <p:nvSpPr>
          <p:cNvPr id="144" name="Shape 144"/>
          <p:cNvSpPr/>
          <p:nvPr/>
        </p:nvSpPr>
        <p:spPr>
          <a:xfrm>
            <a:off x="8823960" y="2907792"/>
            <a:ext cx="402336" cy="402336"/>
          </a:xfrm>
          <a:prstGeom prst="roundRect">
            <a:avLst/>
          </a:prstGeom>
          <a:solidFill>
            <a:srgbClr val="1E7F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TextBox 154"/>
          <p:cNvSpPr txBox="1"/>
          <p:nvPr/>
        </p:nvSpPr>
        <p:spPr>
          <a:xfrm>
            <a:off x="8412480" y="210312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8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2006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8257032" y="2487168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050" b="0">
                <a:latin typeface="Microsoft YaHei"/>
                <a:ea typeface="Microsoft YaHei"/>
                <a:cs typeface="Microsoft YaHei"/>
                <a:solidFill>
                  <a:srgbClr val="3B4A59"/>
                </a:solidFill>
              </a:rPr>
              <a:t>主体完工</a:t>
            </a:r>
          </a:p>
        </p:txBody>
      </p:sp>
      <p:sp>
        <p:nvSpPr>
          <p:cNvPr id="145" name="Shape 145"/>
          <p:cNvSpPr/>
          <p:nvPr/>
        </p:nvSpPr>
        <p:spPr>
          <a:xfrm>
            <a:off x="10789920" y="2907792"/>
            <a:ext cx="402336" cy="402336"/>
          </a:xfrm>
          <a:prstGeom prst="round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TextBox 155"/>
          <p:cNvSpPr txBox="1"/>
          <p:nvPr/>
        </p:nvSpPr>
        <p:spPr>
          <a:xfrm>
            <a:off x="10378440" y="347472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8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2012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10222992" y="3858768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050" b="0">
                <a:latin typeface="Microsoft YaHei"/>
                <a:ea typeface="Microsoft YaHei"/>
                <a:cs typeface="Microsoft YaHei"/>
                <a:solidFill>
                  <a:srgbClr val="3B4A59"/>
                </a:solidFill>
              </a:rPr>
              <a:t>主要任务完成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960120" y="5074920"/>
            <a:ext cx="100584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7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建设周期长、技术难度高、组织协同复杂，是我国重大工程建设能力的集中展示。</a:t>
            </a:r>
          </a:p>
        </p:txBody>
      </p:sp>
      <p:sp>
        <p:nvSpPr>
          <p:cNvPr id="904" name="TextBox 904"/>
          <p:cNvSpPr txBox="1"/>
          <p:nvPr/>
        </p:nvSpPr>
        <p:spPr>
          <a:xfrm>
            <a:off x="411480" y="64465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9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04</a:t>
            </a:r>
          </a:p>
        </p:txBody>
      </p:sp>
      <p:sp>
        <p:nvSpPr>
          <p:cNvPr id="954" name="TextBox 954"/>
          <p:cNvSpPr txBox="1"/>
          <p:nvPr/>
        </p:nvSpPr>
        <p:spPr>
          <a:xfrm>
            <a:off x="9144000" y="64465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/>
            <a:r>
              <a:rPr lang="zh-CN" sz="8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三峡大坝的历史与现在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TextBox 11"/>
          <p:cNvSpPr txBox="1"/>
          <p:nvPr/>
        </p:nvSpPr>
        <p:spPr>
          <a:xfrm>
            <a:off x="548640" y="256032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6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党建引领：重大工程背后的组织力量</a:t>
            </a:r>
          </a:p>
        </p:txBody>
      </p:sp>
      <p:sp>
        <p:nvSpPr>
          <p:cNvPr id="12" name="Shape 12"/>
          <p:cNvSpPr/>
          <p:nvPr/>
        </p:nvSpPr>
        <p:spPr>
          <a:xfrm>
            <a:off x="566928" y="841248"/>
            <a:ext cx="1554480" cy="45720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Shape 180"/>
          <p:cNvSpPr/>
          <p:nvPr/>
        </p:nvSpPr>
        <p:spPr>
          <a:xfrm>
            <a:off x="685800" y="1234440"/>
            <a:ext cx="5029200" cy="4343400"/>
          </a:xfrm>
          <a:prstGeom prst="roundRect">
            <a:avLst/>
          </a:prstGeom>
          <a:solidFill>
            <a:srgbClr val="1234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Shape 181"/>
          <p:cNvSpPr/>
          <p:nvPr/>
        </p:nvSpPr>
        <p:spPr>
          <a:xfrm>
            <a:off x="685800" y="1234440"/>
            <a:ext cx="146304" cy="4343400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TextBox 182"/>
          <p:cNvSpPr txBox="1"/>
          <p:nvPr/>
        </p:nvSpPr>
        <p:spPr>
          <a:xfrm>
            <a:off x="1051560" y="1938528"/>
            <a:ext cx="425196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000" b="1">
                <a:latin typeface="Microsoft YaHei"/>
                <a:ea typeface="Microsoft YaHei"/>
                <a:cs typeface="Microsoft YaHei"/>
                <a:solidFill>
                  <a:srgbClr val="FFFFFF"/>
                </a:solidFill>
              </a:rPr>
              <a:t>党的领导贯穿工程建设、移民安置、生态保护和运行管理全过程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1051560" y="3246120"/>
            <a:ext cx="4251960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1400" b="0">
                <a:latin typeface="Microsoft YaHei"/>
                <a:ea typeface="Microsoft YaHei"/>
                <a:cs typeface="Microsoft YaHei"/>
                <a:solidFill>
                  <a:srgbClr val="DDECF2"/>
                </a:solidFill>
              </a:rPr>
              <a:t>工程涉及百万级移民安置，是一项复杂的工程建设任务，也是一项系统的社会治理任务。</a:t>
            </a:r>
          </a:p>
        </p:txBody>
      </p:sp>
      <p:sp>
        <p:nvSpPr>
          <p:cNvPr id="190" name="Shape 190"/>
          <p:cNvSpPr/>
          <p:nvPr/>
        </p:nvSpPr>
        <p:spPr>
          <a:xfrm>
            <a:off x="6446520" y="16002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200" name="TextBox 200"/>
          <p:cNvSpPr txBox="1"/>
          <p:nvPr/>
        </p:nvSpPr>
        <p:spPr>
          <a:xfrm>
            <a:off x="6611112" y="178308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900" b="1">
                <a:latin typeface="Microsoft YaHei"/>
                <a:ea typeface="Microsoft YaHei"/>
                <a:cs typeface="Microsoft YaHei"/>
                <a:solidFill>
                  <a:srgbClr val="C51F2C"/>
                </a:solidFill>
              </a:rPr>
              <a:t>领导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6647688" y="2286000"/>
            <a:ext cx="1664208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200" b="0">
                <a:latin typeface="Microsoft YaHei"/>
                <a:ea typeface="Microsoft YaHei"/>
                <a:cs typeface="Microsoft YaHei"/>
                <a:solidFill>
                  <a:srgbClr val="344250"/>
                </a:solidFill>
              </a:rPr>
              <a:t>统一部署
统筹全局</a:t>
            </a:r>
          </a:p>
        </p:txBody>
      </p:sp>
      <p:sp>
        <p:nvSpPr>
          <p:cNvPr id="191" name="Shape 191"/>
          <p:cNvSpPr/>
          <p:nvPr/>
        </p:nvSpPr>
        <p:spPr>
          <a:xfrm>
            <a:off x="8778240" y="16002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201" name="TextBox 201"/>
          <p:cNvSpPr txBox="1"/>
          <p:nvPr/>
        </p:nvSpPr>
        <p:spPr>
          <a:xfrm>
            <a:off x="8942832" y="178308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900" b="1">
                <a:latin typeface="Microsoft YaHei"/>
                <a:ea typeface="Microsoft YaHei"/>
                <a:cs typeface="Microsoft YaHei"/>
                <a:solidFill>
                  <a:srgbClr val="C51F2C"/>
                </a:solidFill>
              </a:rPr>
              <a:t>组织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8979408" y="2286000"/>
            <a:ext cx="1664208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200" b="0">
                <a:latin typeface="Microsoft YaHei"/>
                <a:ea typeface="Microsoft YaHei"/>
                <a:cs typeface="Microsoft YaHei"/>
                <a:solidFill>
                  <a:srgbClr val="344250"/>
                </a:solidFill>
              </a:rPr>
              <a:t>基层党组织
战斗堡垒</a:t>
            </a:r>
          </a:p>
        </p:txBody>
      </p:sp>
      <p:sp>
        <p:nvSpPr>
          <p:cNvPr id="192" name="Shape 192"/>
          <p:cNvSpPr/>
          <p:nvPr/>
        </p:nvSpPr>
        <p:spPr>
          <a:xfrm>
            <a:off x="6446520" y="347472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202" name="TextBox 202"/>
          <p:cNvSpPr txBox="1"/>
          <p:nvPr/>
        </p:nvSpPr>
        <p:spPr>
          <a:xfrm>
            <a:off x="6611112" y="365760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900" b="1">
                <a:latin typeface="Microsoft YaHei"/>
                <a:ea typeface="Microsoft YaHei"/>
                <a:cs typeface="Microsoft YaHei"/>
                <a:solidFill>
                  <a:srgbClr val="C51F2C"/>
                </a:solidFill>
              </a:rPr>
              <a:t>攻坚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6647688" y="4160520"/>
            <a:ext cx="1664208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200" b="0">
                <a:latin typeface="Microsoft YaHei"/>
                <a:ea typeface="Microsoft YaHei"/>
                <a:cs typeface="Microsoft YaHei"/>
                <a:solidFill>
                  <a:srgbClr val="344250"/>
                </a:solidFill>
              </a:rPr>
              <a:t>关键节点
冲锋在前</a:t>
            </a:r>
          </a:p>
        </p:txBody>
      </p:sp>
      <p:sp>
        <p:nvSpPr>
          <p:cNvPr id="193" name="Shape 193"/>
          <p:cNvSpPr/>
          <p:nvPr/>
        </p:nvSpPr>
        <p:spPr>
          <a:xfrm>
            <a:off x="8778240" y="347472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203" name="TextBox 203"/>
          <p:cNvSpPr txBox="1"/>
          <p:nvPr/>
        </p:nvSpPr>
        <p:spPr>
          <a:xfrm>
            <a:off x="8942832" y="365760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900" b="1">
                <a:latin typeface="Microsoft YaHei"/>
                <a:ea typeface="Microsoft YaHei"/>
                <a:cs typeface="Microsoft YaHei"/>
                <a:solidFill>
                  <a:srgbClr val="C51F2C"/>
                </a:solidFill>
              </a:rPr>
              <a:t>担当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8979408" y="4160520"/>
            <a:ext cx="1664208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200" b="0">
                <a:latin typeface="Microsoft YaHei"/>
                <a:ea typeface="Microsoft YaHei"/>
                <a:cs typeface="Microsoft YaHei"/>
                <a:solidFill>
                  <a:srgbClr val="344250"/>
                </a:solidFill>
              </a:rPr>
              <a:t>党员干部
一线作为</a:t>
            </a:r>
          </a:p>
        </p:txBody>
      </p:sp>
      <p:sp>
        <p:nvSpPr>
          <p:cNvPr id="905" name="TextBox 905"/>
          <p:cNvSpPr txBox="1"/>
          <p:nvPr/>
        </p:nvSpPr>
        <p:spPr>
          <a:xfrm>
            <a:off x="411480" y="64465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9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05</a:t>
            </a:r>
          </a:p>
        </p:txBody>
      </p:sp>
      <p:sp>
        <p:nvSpPr>
          <p:cNvPr id="955" name="TextBox 955"/>
          <p:cNvSpPr txBox="1"/>
          <p:nvPr/>
        </p:nvSpPr>
        <p:spPr>
          <a:xfrm>
            <a:off x="9144000" y="64465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/>
            <a:r>
              <a:rPr lang="zh-CN" sz="8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三峡大坝的历史与现在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TextBox 11"/>
          <p:cNvSpPr txBox="1"/>
          <p:nvPr/>
        </p:nvSpPr>
        <p:spPr>
          <a:xfrm>
            <a:off x="548640" y="256032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6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大国重器：三峡大坝的工程规模</a:t>
            </a:r>
          </a:p>
        </p:txBody>
      </p:sp>
      <p:sp>
        <p:nvSpPr>
          <p:cNvPr id="12" name="Shape 12"/>
          <p:cNvSpPr/>
          <p:nvPr/>
        </p:nvSpPr>
        <p:spPr>
          <a:xfrm>
            <a:off x="566928" y="841248"/>
            <a:ext cx="1554480" cy="45720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Shape 220"/>
          <p:cNvSpPr/>
          <p:nvPr/>
        </p:nvSpPr>
        <p:spPr>
          <a:xfrm>
            <a:off x="658368" y="1207008"/>
            <a:ext cx="10863072" cy="4370832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221" name="Shape 221"/>
          <p:cNvSpPr/>
          <p:nvPr/>
        </p:nvSpPr>
        <p:spPr>
          <a:xfrm>
            <a:off x="3246120" y="3273552"/>
            <a:ext cx="4800600" cy="749808"/>
          </a:xfrm>
          <a:prstGeom prst="rect">
            <a:avLst/>
          </a:prstGeom>
          <a:solidFill>
            <a:srgbClr val="8795A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Shape 222"/>
          <p:cNvSpPr/>
          <p:nvPr/>
        </p:nvSpPr>
        <p:spPr>
          <a:xfrm>
            <a:off x="3840480" y="2331720"/>
            <a:ext cx="3611880" cy="960120"/>
          </a:xfrm>
          <a:prstGeom prst="rect">
            <a:avLst/>
          </a:prstGeom>
          <a:solidFill>
            <a:srgbClr val="6F7F8D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23" name="Line 223"/>
          <p:cNvCxnSpPr/>
          <p:nvPr/>
        </p:nvCxnSpPr>
        <p:spPr>
          <a:xfrm>
            <a:off x="3474720" y="4023360"/>
            <a:ext cx="4343400" cy="0"/>
          </a:xfrm>
          <a:prstGeom prst="line">
            <a:avLst/>
          </a:prstGeom>
          <a:ln w="63500">
            <a:solidFill>
              <a:srgbClr val="1E7F86"/>
            </a:solidFill>
          </a:ln>
        </p:spPr>
      </p:cxnSp>
      <p:sp>
        <p:nvSpPr>
          <p:cNvPr id="230" name="Shape 230"/>
          <p:cNvSpPr/>
          <p:nvPr/>
        </p:nvSpPr>
        <p:spPr>
          <a:xfrm>
            <a:off x="868680" y="1463040"/>
            <a:ext cx="2011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txBody>
          <a:bodyPr/>
          <a:lstStyle/>
          <a:p/>
        </p:txBody>
      </p:sp>
      <p:sp>
        <p:nvSpPr>
          <p:cNvPr id="330" name="Shape 330"/>
          <p:cNvSpPr/>
          <p:nvPr/>
        </p:nvSpPr>
        <p:spPr>
          <a:xfrm>
            <a:off x="868680" y="1463040"/>
            <a:ext cx="73152" cy="868680"/>
          </a:xfrm>
          <a:prstGeom prst="rect">
            <a:avLst/>
          </a:prstGeom>
          <a:solidFill>
            <a:srgbClr val="1E7F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30" name="TextBox 430"/>
          <p:cNvSpPr txBox="1"/>
          <p:nvPr/>
        </p:nvSpPr>
        <p:spPr>
          <a:xfrm>
            <a:off x="978407" y="152704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200" b="1">
                <a:latin typeface="Microsoft YaHei"/>
                <a:ea typeface="Microsoft YaHei"/>
                <a:cs typeface="Microsoft YaHei"/>
                <a:solidFill>
                  <a:srgbClr val="1E7F86"/>
                </a:solidFill>
              </a:rPr>
              <a:t>2309米</a:t>
            </a:r>
          </a:p>
        </p:txBody>
      </p:sp>
      <p:sp>
        <p:nvSpPr>
          <p:cNvPr id="530" name="TextBox 530"/>
          <p:cNvSpPr txBox="1"/>
          <p:nvPr/>
        </p:nvSpPr>
        <p:spPr>
          <a:xfrm>
            <a:off x="978407" y="18745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850" b="0">
                <a:latin typeface="Microsoft YaHei"/>
                <a:ea typeface="Microsoft YaHei"/>
                <a:cs typeface="Microsoft YaHei"/>
                <a:solidFill>
                  <a:srgbClr val="2F3A45"/>
                </a:solidFill>
              </a:rPr>
              <a:t>坝轴线全长｜混凝土重力坝</a:t>
            </a:r>
          </a:p>
        </p:txBody>
      </p:sp>
      <p:sp>
        <p:nvSpPr>
          <p:cNvPr id="231" name="Shape 231"/>
          <p:cNvSpPr/>
          <p:nvPr/>
        </p:nvSpPr>
        <p:spPr>
          <a:xfrm>
            <a:off x="2971800" y="1463040"/>
            <a:ext cx="2011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txBody>
          <a:bodyPr/>
          <a:lstStyle/>
          <a:p/>
        </p:txBody>
      </p:sp>
      <p:sp>
        <p:nvSpPr>
          <p:cNvPr id="331" name="Shape 331"/>
          <p:cNvSpPr/>
          <p:nvPr/>
        </p:nvSpPr>
        <p:spPr>
          <a:xfrm>
            <a:off x="2971800" y="1463040"/>
            <a:ext cx="73152" cy="868680"/>
          </a:xfrm>
          <a:prstGeom prst="rect">
            <a:avLst/>
          </a:prstGeom>
          <a:solidFill>
            <a:srgbClr val="1E7F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31" name="TextBox 431"/>
          <p:cNvSpPr txBox="1"/>
          <p:nvPr/>
        </p:nvSpPr>
        <p:spPr>
          <a:xfrm>
            <a:off x="3081528" y="152704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200" b="1">
                <a:latin typeface="Microsoft YaHei"/>
                <a:ea typeface="Microsoft YaHei"/>
                <a:cs typeface="Microsoft YaHei"/>
                <a:solidFill>
                  <a:srgbClr val="1E7F86"/>
                </a:solidFill>
              </a:rPr>
              <a:t>181米</a:t>
            </a:r>
          </a:p>
        </p:txBody>
      </p:sp>
      <p:sp>
        <p:nvSpPr>
          <p:cNvPr id="531" name="TextBox 531"/>
          <p:cNvSpPr txBox="1"/>
          <p:nvPr/>
        </p:nvSpPr>
        <p:spPr>
          <a:xfrm>
            <a:off x="3081528" y="18745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850" b="0">
                <a:latin typeface="Microsoft YaHei"/>
                <a:ea typeface="Microsoft YaHei"/>
                <a:cs typeface="Microsoft YaHei"/>
                <a:solidFill>
                  <a:srgbClr val="2F3A45"/>
                </a:solidFill>
              </a:rPr>
              <a:t>最大坝高｜工程垂直尺度</a:t>
            </a:r>
          </a:p>
        </p:txBody>
      </p:sp>
      <p:sp>
        <p:nvSpPr>
          <p:cNvPr id="232" name="Shape 232"/>
          <p:cNvSpPr/>
          <p:nvPr/>
        </p:nvSpPr>
        <p:spPr>
          <a:xfrm>
            <a:off x="9098280" y="1463040"/>
            <a:ext cx="2011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txBody>
          <a:bodyPr/>
          <a:lstStyle/>
          <a:p/>
        </p:txBody>
      </p:sp>
      <p:sp>
        <p:nvSpPr>
          <p:cNvPr id="332" name="Shape 332"/>
          <p:cNvSpPr/>
          <p:nvPr/>
        </p:nvSpPr>
        <p:spPr>
          <a:xfrm>
            <a:off x="9098280" y="1463040"/>
            <a:ext cx="73152" cy="868680"/>
          </a:xfrm>
          <a:prstGeom prst="rect">
            <a:avLst/>
          </a:prstGeom>
          <a:solidFill>
            <a:srgbClr val="1E7F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32" name="TextBox 432"/>
          <p:cNvSpPr txBox="1"/>
          <p:nvPr/>
        </p:nvSpPr>
        <p:spPr>
          <a:xfrm>
            <a:off x="9208007" y="152704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200" b="1">
                <a:latin typeface="Microsoft YaHei"/>
                <a:ea typeface="Microsoft YaHei"/>
                <a:cs typeface="Microsoft YaHei"/>
                <a:solidFill>
                  <a:srgbClr val="1E7F86"/>
                </a:solidFill>
              </a:rPr>
              <a:t>393亿m³</a:t>
            </a:r>
          </a:p>
        </p:txBody>
      </p:sp>
      <p:sp>
        <p:nvSpPr>
          <p:cNvPr id="532" name="TextBox 532"/>
          <p:cNvSpPr txBox="1"/>
          <p:nvPr/>
        </p:nvSpPr>
        <p:spPr>
          <a:xfrm>
            <a:off x="9208007" y="18745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850" b="0">
                <a:latin typeface="Microsoft YaHei"/>
                <a:ea typeface="Microsoft YaHei"/>
                <a:cs typeface="Microsoft YaHei"/>
                <a:solidFill>
                  <a:srgbClr val="2F3A45"/>
                </a:solidFill>
              </a:rPr>
              <a:t>水库总库容｜流域调蓄基础</a:t>
            </a:r>
          </a:p>
        </p:txBody>
      </p:sp>
      <p:sp>
        <p:nvSpPr>
          <p:cNvPr id="233" name="Shape 233"/>
          <p:cNvSpPr/>
          <p:nvPr/>
        </p:nvSpPr>
        <p:spPr>
          <a:xfrm>
            <a:off x="1417320" y="4434840"/>
            <a:ext cx="2011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txBody>
          <a:bodyPr/>
          <a:lstStyle/>
          <a:p/>
        </p:txBody>
      </p:sp>
      <p:sp>
        <p:nvSpPr>
          <p:cNvPr id="333" name="Shape 333"/>
          <p:cNvSpPr/>
          <p:nvPr/>
        </p:nvSpPr>
        <p:spPr>
          <a:xfrm>
            <a:off x="1417320" y="4434840"/>
            <a:ext cx="73152" cy="868680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" name="TextBox 433"/>
          <p:cNvSpPr txBox="1"/>
          <p:nvPr/>
        </p:nvSpPr>
        <p:spPr>
          <a:xfrm>
            <a:off x="1527048" y="449884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200" b="1">
                <a:latin typeface="Microsoft YaHei"/>
                <a:ea typeface="Microsoft YaHei"/>
                <a:cs typeface="Microsoft YaHei"/>
                <a:solidFill>
                  <a:srgbClr val="C51F2C"/>
                </a:solidFill>
              </a:rPr>
              <a:t>221.5亿m³</a:t>
            </a:r>
          </a:p>
        </p:txBody>
      </p:sp>
      <p:sp>
        <p:nvSpPr>
          <p:cNvPr id="533" name="TextBox 533"/>
          <p:cNvSpPr txBox="1"/>
          <p:nvPr/>
        </p:nvSpPr>
        <p:spPr>
          <a:xfrm>
            <a:off x="1527048" y="48463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850" b="0">
                <a:latin typeface="Microsoft YaHei"/>
                <a:ea typeface="Microsoft YaHei"/>
                <a:cs typeface="Microsoft YaHei"/>
                <a:solidFill>
                  <a:srgbClr val="2F3A45"/>
                </a:solidFill>
              </a:rPr>
              <a:t>防洪库容｜防洪核心能力</a:t>
            </a:r>
          </a:p>
        </p:txBody>
      </p:sp>
      <p:sp>
        <p:nvSpPr>
          <p:cNvPr id="234" name="Shape 234"/>
          <p:cNvSpPr/>
          <p:nvPr/>
        </p:nvSpPr>
        <p:spPr>
          <a:xfrm>
            <a:off x="8275320" y="4434840"/>
            <a:ext cx="2011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txBody>
          <a:bodyPr/>
          <a:lstStyle/>
          <a:p/>
        </p:txBody>
      </p:sp>
      <p:sp>
        <p:nvSpPr>
          <p:cNvPr id="334" name="Shape 334"/>
          <p:cNvSpPr/>
          <p:nvPr/>
        </p:nvSpPr>
        <p:spPr>
          <a:xfrm>
            <a:off x="8275320" y="4434840"/>
            <a:ext cx="73152" cy="868680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4" name="TextBox 434"/>
          <p:cNvSpPr txBox="1"/>
          <p:nvPr/>
        </p:nvSpPr>
        <p:spPr>
          <a:xfrm>
            <a:off x="8385048" y="449884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200" b="1">
                <a:latin typeface="Microsoft YaHei"/>
                <a:ea typeface="Microsoft YaHei"/>
                <a:cs typeface="Microsoft YaHei"/>
                <a:solidFill>
                  <a:srgbClr val="C51F2C"/>
                </a:solidFill>
              </a:rPr>
              <a:t>2250万kW</a:t>
            </a:r>
          </a:p>
        </p:txBody>
      </p:sp>
      <p:sp>
        <p:nvSpPr>
          <p:cNvPr id="534" name="TextBox 534"/>
          <p:cNvSpPr txBox="1"/>
          <p:nvPr/>
        </p:nvSpPr>
        <p:spPr>
          <a:xfrm>
            <a:off x="8385048" y="48463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850" b="0">
                <a:latin typeface="Microsoft YaHei"/>
                <a:ea typeface="Microsoft YaHei"/>
                <a:cs typeface="Microsoft YaHei"/>
                <a:solidFill>
                  <a:srgbClr val="2F3A45"/>
                </a:solidFill>
              </a:rPr>
              <a:t>总装机容量｜世界级水电站</a:t>
            </a:r>
          </a:p>
        </p:txBody>
      </p:sp>
      <p:sp>
        <p:nvSpPr>
          <p:cNvPr id="906" name="TextBox 906"/>
          <p:cNvSpPr txBox="1"/>
          <p:nvPr/>
        </p:nvSpPr>
        <p:spPr>
          <a:xfrm>
            <a:off x="411480" y="64465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9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06</a:t>
            </a:r>
          </a:p>
        </p:txBody>
      </p:sp>
      <p:sp>
        <p:nvSpPr>
          <p:cNvPr id="956" name="TextBox 956"/>
          <p:cNvSpPr txBox="1"/>
          <p:nvPr/>
        </p:nvSpPr>
        <p:spPr>
          <a:xfrm>
            <a:off x="9144000" y="64465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/>
            <a:r>
              <a:rPr lang="zh-CN" sz="8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三峡大坝的历史与现在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TextBox 11"/>
          <p:cNvSpPr txBox="1"/>
          <p:nvPr/>
        </p:nvSpPr>
        <p:spPr>
          <a:xfrm>
            <a:off x="548640" y="256032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6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综合效益：防洪、发电、航运与调度</a:t>
            </a:r>
          </a:p>
        </p:txBody>
      </p:sp>
      <p:sp>
        <p:nvSpPr>
          <p:cNvPr id="12" name="Shape 12"/>
          <p:cNvSpPr/>
          <p:nvPr/>
        </p:nvSpPr>
        <p:spPr>
          <a:xfrm>
            <a:off x="566928" y="841248"/>
            <a:ext cx="1554480" cy="45720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" name="Shape 260"/>
          <p:cNvSpPr/>
          <p:nvPr/>
        </p:nvSpPr>
        <p:spPr>
          <a:xfrm>
            <a:off x="777240" y="1234440"/>
            <a:ext cx="49834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270" name="Shape 270"/>
          <p:cNvSpPr/>
          <p:nvPr/>
        </p:nvSpPr>
        <p:spPr>
          <a:xfrm>
            <a:off x="777240" y="1234440"/>
            <a:ext cx="146304" cy="1874519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" name="TextBox 280"/>
          <p:cNvSpPr txBox="1"/>
          <p:nvPr/>
        </p:nvSpPr>
        <p:spPr>
          <a:xfrm>
            <a:off x="1124712" y="149047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200" b="1">
                <a:latin typeface="Microsoft YaHei"/>
                <a:ea typeface="Microsoft YaHei"/>
                <a:cs typeface="Microsoft YaHei"/>
                <a:solidFill>
                  <a:srgbClr val="C51F2C"/>
                </a:solidFill>
              </a:rPr>
              <a:t>防洪</a:t>
            </a:r>
          </a:p>
        </p:txBody>
      </p:sp>
      <p:sp>
        <p:nvSpPr>
          <p:cNvPr id="290" name="TextBox 290"/>
          <p:cNvSpPr txBox="1"/>
          <p:nvPr/>
        </p:nvSpPr>
        <p:spPr>
          <a:xfrm>
            <a:off x="1143000" y="2057400"/>
            <a:ext cx="425196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1300" b="0">
                <a:latin typeface="Microsoft YaHei"/>
                <a:ea typeface="Microsoft YaHei"/>
                <a:cs typeface="Microsoft YaHei"/>
                <a:solidFill>
                  <a:srgbClr val="344250"/>
                </a:solidFill>
              </a:rPr>
              <a:t>防洪库容约221.5亿立方米
提升长江中下游安全保障</a:t>
            </a:r>
          </a:p>
        </p:txBody>
      </p:sp>
      <p:sp>
        <p:nvSpPr>
          <p:cNvPr id="261" name="Shape 261"/>
          <p:cNvSpPr/>
          <p:nvPr/>
        </p:nvSpPr>
        <p:spPr>
          <a:xfrm>
            <a:off x="6263640" y="1234440"/>
            <a:ext cx="49834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271" name="Shape 271"/>
          <p:cNvSpPr/>
          <p:nvPr/>
        </p:nvSpPr>
        <p:spPr>
          <a:xfrm>
            <a:off x="6263640" y="1234440"/>
            <a:ext cx="146304" cy="1874519"/>
          </a:xfrm>
          <a:prstGeom prst="rect">
            <a:avLst/>
          </a:prstGeom>
          <a:solidFill>
            <a:srgbClr val="1E7F8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" name="TextBox 281"/>
          <p:cNvSpPr txBox="1"/>
          <p:nvPr/>
        </p:nvSpPr>
        <p:spPr>
          <a:xfrm>
            <a:off x="6611112" y="149047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200" b="1">
                <a:latin typeface="Microsoft YaHei"/>
                <a:ea typeface="Microsoft YaHei"/>
                <a:cs typeface="Microsoft YaHei"/>
                <a:solidFill>
                  <a:srgbClr val="1E7F86"/>
                </a:solidFill>
              </a:rPr>
              <a:t>发电</a:t>
            </a:r>
          </a:p>
        </p:txBody>
      </p:sp>
      <p:sp>
        <p:nvSpPr>
          <p:cNvPr id="291" name="TextBox 291"/>
          <p:cNvSpPr txBox="1"/>
          <p:nvPr/>
        </p:nvSpPr>
        <p:spPr>
          <a:xfrm>
            <a:off x="6629400" y="2057400"/>
            <a:ext cx="425196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1300" b="0">
                <a:latin typeface="Microsoft YaHei"/>
                <a:ea typeface="Microsoft YaHei"/>
                <a:cs typeface="Microsoft YaHei"/>
                <a:solidFill>
                  <a:srgbClr val="344250"/>
                </a:solidFill>
              </a:rPr>
              <a:t>多年平均年发电量约882亿千瓦时
持续输出清洁电能</a:t>
            </a:r>
          </a:p>
        </p:txBody>
      </p:sp>
      <p:sp>
        <p:nvSpPr>
          <p:cNvPr id="262" name="Shape 262"/>
          <p:cNvSpPr/>
          <p:nvPr/>
        </p:nvSpPr>
        <p:spPr>
          <a:xfrm>
            <a:off x="777240" y="3566160"/>
            <a:ext cx="49834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272" name="Shape 272"/>
          <p:cNvSpPr/>
          <p:nvPr/>
        </p:nvSpPr>
        <p:spPr>
          <a:xfrm>
            <a:off x="777240" y="3566160"/>
            <a:ext cx="146304" cy="1874519"/>
          </a:xfrm>
          <a:prstGeom prst="rect">
            <a:avLst/>
          </a:prstGeom>
          <a:solidFill>
            <a:srgbClr val="1234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" name="TextBox 282"/>
          <p:cNvSpPr txBox="1"/>
          <p:nvPr/>
        </p:nvSpPr>
        <p:spPr>
          <a:xfrm>
            <a:off x="1124712" y="3822191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2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航运</a:t>
            </a:r>
          </a:p>
        </p:txBody>
      </p:sp>
      <p:sp>
        <p:nvSpPr>
          <p:cNvPr id="292" name="TextBox 292"/>
          <p:cNvSpPr txBox="1"/>
          <p:nvPr/>
        </p:nvSpPr>
        <p:spPr>
          <a:xfrm>
            <a:off x="1143000" y="4389120"/>
            <a:ext cx="425196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1300" b="0">
                <a:latin typeface="Microsoft YaHei"/>
                <a:ea typeface="Microsoft YaHei"/>
                <a:cs typeface="Microsoft YaHei"/>
                <a:solidFill>
                  <a:srgbClr val="344250"/>
                </a:solidFill>
              </a:rPr>
              <a:t>双线五级船闸支撑万吨级船队
改善川江航道条件</a:t>
            </a:r>
          </a:p>
        </p:txBody>
      </p:sp>
      <p:sp>
        <p:nvSpPr>
          <p:cNvPr id="263" name="Shape 263"/>
          <p:cNvSpPr/>
          <p:nvPr/>
        </p:nvSpPr>
        <p:spPr>
          <a:xfrm>
            <a:off x="6263640" y="3566160"/>
            <a:ext cx="49834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273" name="Shape 273"/>
          <p:cNvSpPr/>
          <p:nvPr/>
        </p:nvSpPr>
        <p:spPr>
          <a:xfrm>
            <a:off x="6263640" y="3566160"/>
            <a:ext cx="146304" cy="1874519"/>
          </a:xfrm>
          <a:prstGeom prst="rect">
            <a:avLst/>
          </a:prstGeom>
          <a:solidFill>
            <a:srgbClr val="61758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" name="TextBox 283"/>
          <p:cNvSpPr txBox="1"/>
          <p:nvPr/>
        </p:nvSpPr>
        <p:spPr>
          <a:xfrm>
            <a:off x="6611112" y="3822191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200" b="1">
                <a:latin typeface="Microsoft YaHei"/>
                <a:ea typeface="Microsoft YaHei"/>
                <a:cs typeface="Microsoft YaHei"/>
                <a:solidFill>
                  <a:srgbClr val="617586"/>
                </a:solidFill>
              </a:rPr>
              <a:t>调度</a:t>
            </a:r>
          </a:p>
        </p:txBody>
      </p:sp>
      <p:sp>
        <p:nvSpPr>
          <p:cNvPr id="293" name="TextBox 293"/>
          <p:cNvSpPr txBox="1"/>
          <p:nvPr/>
        </p:nvSpPr>
        <p:spPr>
          <a:xfrm>
            <a:off x="6629400" y="4389120"/>
            <a:ext cx="425196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1300" b="0">
                <a:latin typeface="Microsoft YaHei"/>
                <a:ea typeface="Microsoft YaHei"/>
                <a:cs typeface="Microsoft YaHei"/>
                <a:solidFill>
                  <a:srgbClr val="344250"/>
                </a:solidFill>
              </a:rPr>
              <a:t>汛期削峰、枯水补水
服务流域水资源配置</a:t>
            </a:r>
          </a:p>
        </p:txBody>
      </p:sp>
      <p:sp>
        <p:nvSpPr>
          <p:cNvPr id="907" name="TextBox 907"/>
          <p:cNvSpPr txBox="1"/>
          <p:nvPr/>
        </p:nvSpPr>
        <p:spPr>
          <a:xfrm>
            <a:off x="411480" y="64465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9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07</a:t>
            </a:r>
          </a:p>
        </p:txBody>
      </p:sp>
      <p:sp>
        <p:nvSpPr>
          <p:cNvPr id="957" name="TextBox 957"/>
          <p:cNvSpPr txBox="1"/>
          <p:nvPr/>
        </p:nvSpPr>
        <p:spPr>
          <a:xfrm>
            <a:off x="9144000" y="64465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/>
            <a:r>
              <a:rPr lang="zh-CN" sz="8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三峡大坝的历史与现在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TextBox 11"/>
          <p:cNvSpPr txBox="1"/>
          <p:nvPr/>
        </p:nvSpPr>
        <p:spPr>
          <a:xfrm>
            <a:off x="548640" y="256032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6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今日三峡：现代化运行与长江大保护</a:t>
            </a:r>
          </a:p>
        </p:txBody>
      </p:sp>
      <p:sp>
        <p:nvSpPr>
          <p:cNvPr id="12" name="Shape 12"/>
          <p:cNvSpPr/>
          <p:nvPr/>
        </p:nvSpPr>
        <p:spPr>
          <a:xfrm>
            <a:off x="566928" y="841248"/>
            <a:ext cx="1554480" cy="45720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" name="Shape 300"/>
          <p:cNvSpPr/>
          <p:nvPr/>
        </p:nvSpPr>
        <p:spPr>
          <a:xfrm>
            <a:off x="685800" y="1143000"/>
            <a:ext cx="10789920" cy="1920240"/>
          </a:xfrm>
          <a:prstGeom prst="roundRect">
            <a:avLst/>
          </a:prstGeom>
          <a:solidFill>
            <a:srgbClr val="1234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" name="TextBox 301"/>
          <p:cNvSpPr txBox="1"/>
          <p:nvPr/>
        </p:nvSpPr>
        <p:spPr>
          <a:xfrm>
            <a:off x="960120" y="1508760"/>
            <a:ext cx="1001268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2500" b="1">
                <a:latin typeface="Microsoft YaHei"/>
                <a:ea typeface="Microsoft YaHei"/>
                <a:cs typeface="Microsoft YaHei"/>
                <a:solidFill>
                  <a:srgbClr val="FFFFFF"/>
                </a:solidFill>
              </a:rPr>
              <a:t>从工程建设转向高质量运行管理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1097280" y="2157984"/>
            <a:ext cx="97383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300" b="0">
                <a:latin typeface="Microsoft YaHei"/>
                <a:ea typeface="Microsoft YaHei"/>
                <a:cs typeface="Microsoft YaHei"/>
                <a:solidFill>
                  <a:srgbClr val="DDECF2"/>
                </a:solidFill>
              </a:rPr>
              <a:t>数字化、智能化调度服务国家能源安全、长江经济带发展和长江大保护</a:t>
            </a:r>
          </a:p>
        </p:txBody>
      </p:sp>
      <p:sp>
        <p:nvSpPr>
          <p:cNvPr id="310" name="Shape 310"/>
          <p:cNvSpPr/>
          <p:nvPr/>
        </p:nvSpPr>
        <p:spPr>
          <a:xfrm>
            <a:off x="822960" y="365760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320" name="TextBox 320"/>
          <p:cNvSpPr txBox="1"/>
          <p:nvPr/>
        </p:nvSpPr>
        <p:spPr>
          <a:xfrm>
            <a:off x="960120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2300" b="1">
                <a:latin typeface="Microsoft YaHei"/>
                <a:ea typeface="Microsoft YaHei"/>
                <a:cs typeface="Microsoft YaHei"/>
                <a:solidFill>
                  <a:srgbClr val="C51F2C"/>
                </a:solidFill>
              </a:rPr>
              <a:t>1.8万亿kWh+</a:t>
            </a:r>
          </a:p>
        </p:txBody>
      </p:sp>
      <p:sp>
        <p:nvSpPr>
          <p:cNvPr id="330" name="TextBox 330"/>
          <p:cNvSpPr txBox="1"/>
          <p:nvPr/>
        </p:nvSpPr>
        <p:spPr>
          <a:xfrm>
            <a:off x="1024128" y="437083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050" b="0">
                <a:latin typeface="Microsoft YaHei"/>
                <a:ea typeface="Microsoft YaHei"/>
                <a:cs typeface="Microsoft YaHei"/>
                <a:solidFill>
                  <a:srgbClr val="344250"/>
                </a:solidFill>
              </a:rPr>
              <a:t>截至2025年8月累计发电量突破</a:t>
            </a:r>
          </a:p>
        </p:txBody>
      </p:sp>
      <p:sp>
        <p:nvSpPr>
          <p:cNvPr id="311" name="Shape 311"/>
          <p:cNvSpPr/>
          <p:nvPr/>
        </p:nvSpPr>
        <p:spPr>
          <a:xfrm>
            <a:off x="4526280" y="365760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321" name="TextBox 321"/>
          <p:cNvSpPr txBox="1"/>
          <p:nvPr/>
        </p:nvSpPr>
        <p:spPr>
          <a:xfrm>
            <a:off x="4663440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2300" b="1">
                <a:latin typeface="Microsoft YaHei"/>
                <a:ea typeface="Microsoft YaHei"/>
                <a:cs typeface="Microsoft YaHei"/>
                <a:solidFill>
                  <a:srgbClr val="1E7F86"/>
                </a:solidFill>
              </a:rPr>
              <a:t>22亿吨+</a:t>
            </a:r>
          </a:p>
        </p:txBody>
      </p:sp>
      <p:sp>
        <p:nvSpPr>
          <p:cNvPr id="331" name="TextBox 331"/>
          <p:cNvSpPr txBox="1"/>
          <p:nvPr/>
        </p:nvSpPr>
        <p:spPr>
          <a:xfrm>
            <a:off x="4727448" y="437083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050" b="0">
                <a:latin typeface="Microsoft YaHei"/>
                <a:ea typeface="Microsoft YaHei"/>
                <a:cs typeface="Microsoft YaHei"/>
                <a:solidFill>
                  <a:srgbClr val="344250"/>
                </a:solidFill>
              </a:rPr>
              <a:t>三峡船闸累计货运量超过</a:t>
            </a:r>
          </a:p>
        </p:txBody>
      </p:sp>
      <p:sp>
        <p:nvSpPr>
          <p:cNvPr id="312" name="Shape 312"/>
          <p:cNvSpPr/>
          <p:nvPr/>
        </p:nvSpPr>
        <p:spPr>
          <a:xfrm>
            <a:off x="8229600" y="365760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322" name="TextBox 322"/>
          <p:cNvSpPr txBox="1"/>
          <p:nvPr/>
        </p:nvSpPr>
        <p:spPr>
          <a:xfrm>
            <a:off x="8366760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2300" b="1">
                <a:latin typeface="Microsoft YaHei"/>
                <a:ea typeface="Microsoft YaHei"/>
                <a:cs typeface="Microsoft YaHei"/>
                <a:solidFill>
                  <a:srgbClr val="1E7F86"/>
                </a:solidFill>
              </a:rPr>
              <a:t>2003年以来</a:t>
            </a:r>
          </a:p>
        </p:txBody>
      </p:sp>
      <p:sp>
        <p:nvSpPr>
          <p:cNvPr id="332" name="TextBox 332"/>
          <p:cNvSpPr txBox="1"/>
          <p:nvPr/>
        </p:nvSpPr>
        <p:spPr>
          <a:xfrm>
            <a:off x="8430768" y="437083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050" b="0">
                <a:latin typeface="Microsoft YaHei"/>
                <a:ea typeface="Microsoft YaHei"/>
                <a:cs typeface="Microsoft YaHei"/>
                <a:solidFill>
                  <a:srgbClr val="344250"/>
                </a:solidFill>
              </a:rPr>
              <a:t>首批机组投产、永久船闸通航</a:t>
            </a:r>
          </a:p>
        </p:txBody>
      </p:sp>
      <p:sp>
        <p:nvSpPr>
          <p:cNvPr id="908" name="TextBox 908"/>
          <p:cNvSpPr txBox="1"/>
          <p:nvPr/>
        </p:nvSpPr>
        <p:spPr>
          <a:xfrm>
            <a:off x="411480" y="64465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9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08</a:t>
            </a:r>
          </a:p>
        </p:txBody>
      </p:sp>
      <p:sp>
        <p:nvSpPr>
          <p:cNvPr id="958" name="TextBox 958"/>
          <p:cNvSpPr txBox="1"/>
          <p:nvPr/>
        </p:nvSpPr>
        <p:spPr>
          <a:xfrm>
            <a:off x="9144000" y="64465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/>
            <a:r>
              <a:rPr lang="zh-CN" sz="8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三峡大坝的历史与现在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TextBox 11"/>
          <p:cNvSpPr txBox="1"/>
          <p:nvPr/>
        </p:nvSpPr>
        <p:spPr>
          <a:xfrm>
            <a:off x="548640" y="256032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26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辩证看待：成就、挑战与长期治理</a:t>
            </a:r>
          </a:p>
        </p:txBody>
      </p:sp>
      <p:sp>
        <p:nvSpPr>
          <p:cNvPr id="12" name="Shape 12"/>
          <p:cNvSpPr/>
          <p:nvPr/>
        </p:nvSpPr>
        <p:spPr>
          <a:xfrm>
            <a:off x="566928" y="841248"/>
            <a:ext cx="1554480" cy="45720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" name="Shape 340"/>
          <p:cNvSpPr/>
          <p:nvPr/>
        </p:nvSpPr>
        <p:spPr>
          <a:xfrm>
            <a:off x="822960" y="1325880"/>
            <a:ext cx="4846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341" name="Shape 341"/>
          <p:cNvSpPr/>
          <p:nvPr/>
        </p:nvSpPr>
        <p:spPr>
          <a:xfrm>
            <a:off x="6263640" y="1325880"/>
            <a:ext cx="4846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EE"/>
            </a:solidFill>
          </a:ln>
        </p:spPr>
        <p:txBody>
          <a:bodyPr/>
          <a:lstStyle/>
          <a:p/>
        </p:txBody>
      </p:sp>
      <p:sp>
        <p:nvSpPr>
          <p:cNvPr id="342" name="TextBox 342"/>
          <p:cNvSpPr txBox="1"/>
          <p:nvPr/>
        </p:nvSpPr>
        <p:spPr>
          <a:xfrm>
            <a:off x="1097280" y="1664208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2200" b="1">
                <a:latin typeface="Microsoft YaHei"/>
                <a:ea typeface="Microsoft YaHei"/>
                <a:cs typeface="Microsoft YaHei"/>
                <a:solidFill>
                  <a:srgbClr val="1E7F86"/>
                </a:solidFill>
              </a:rPr>
              <a:t>综合成就</a:t>
            </a:r>
          </a:p>
        </p:txBody>
      </p:sp>
      <p:sp>
        <p:nvSpPr>
          <p:cNvPr id="343" name="TextBox 343"/>
          <p:cNvSpPr txBox="1"/>
          <p:nvPr/>
        </p:nvSpPr>
        <p:spPr>
          <a:xfrm>
            <a:off x="6537960" y="1664208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2200" b="1">
                <a:latin typeface="Microsoft YaHei"/>
                <a:ea typeface="Microsoft YaHei"/>
                <a:cs typeface="Microsoft YaHei"/>
                <a:solidFill>
                  <a:srgbClr val="C51F2C"/>
                </a:solidFill>
              </a:rPr>
              <a:t>长期课题</a:t>
            </a:r>
          </a:p>
        </p:txBody>
      </p:sp>
      <p:sp>
        <p:nvSpPr>
          <p:cNvPr id="344" name="TextBox 344"/>
          <p:cNvSpPr txBox="1"/>
          <p:nvPr/>
        </p:nvSpPr>
        <p:spPr>
          <a:xfrm>
            <a:off x="1143000" y="2377440"/>
            <a:ext cx="4251960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1600" b="0">
                <a:latin typeface="Microsoft YaHei"/>
                <a:ea typeface="Microsoft YaHei"/>
                <a:cs typeface="Microsoft YaHei"/>
                <a:solidFill>
                  <a:srgbClr val="344250"/>
                </a:solidFill>
              </a:rPr>
              <a:t>• 防洪能力提升
• 清洁能源供应
• 航运条件改善
• 水资源调度增强</a:t>
            </a:r>
          </a:p>
        </p:txBody>
      </p:sp>
      <p:sp>
        <p:nvSpPr>
          <p:cNvPr id="345" name="TextBox 345"/>
          <p:cNvSpPr txBox="1"/>
          <p:nvPr/>
        </p:nvSpPr>
        <p:spPr>
          <a:xfrm>
            <a:off x="6583680" y="2377440"/>
            <a:ext cx="4251960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1600" b="0">
                <a:latin typeface="Microsoft YaHei"/>
                <a:ea typeface="Microsoft YaHei"/>
                <a:cs typeface="Microsoft YaHei"/>
                <a:solidFill>
                  <a:srgbClr val="344250"/>
                </a:solidFill>
              </a:rPr>
              <a:t>• 生态环境保护
• 泥沙淤积监测
• 库区发展与移民后续扶持
• 文物保护与长期治理</a:t>
            </a:r>
          </a:p>
        </p:txBody>
      </p:sp>
      <p:cxnSp>
        <p:nvCxnSpPr>
          <p:cNvPr id="346" name="Line 346"/>
          <p:cNvCxnSpPr/>
          <p:nvPr/>
        </p:nvCxnSpPr>
        <p:spPr>
          <a:xfrm>
            <a:off x="5440680" y="3429000"/>
            <a:ext cx="822960" cy="0"/>
          </a:xfrm>
          <a:prstGeom prst="line">
            <a:avLst/>
          </a:prstGeom>
          <a:ln w="38100">
            <a:solidFill>
              <a:srgbClr val="617586"/>
            </a:solidFill>
          </a:ln>
        </p:spPr>
      </p:cxnSp>
      <p:sp>
        <p:nvSpPr>
          <p:cNvPr id="347" name="TextBox 347"/>
          <p:cNvSpPr txBox="1"/>
          <p:nvPr/>
        </p:nvSpPr>
        <p:spPr>
          <a:xfrm>
            <a:off x="4983480" y="37033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1200" b="1">
                <a:latin typeface="Microsoft YaHei"/>
                <a:ea typeface="Microsoft YaHei"/>
                <a:cs typeface="Microsoft YaHei"/>
                <a:solidFill>
                  <a:srgbClr val="12345A"/>
                </a:solidFill>
              </a:rPr>
              <a:t>系统治理</a:t>
            </a:r>
          </a:p>
        </p:txBody>
      </p:sp>
      <p:sp>
        <p:nvSpPr>
          <p:cNvPr id="909" name="TextBox 909"/>
          <p:cNvSpPr txBox="1"/>
          <p:nvPr/>
        </p:nvSpPr>
        <p:spPr>
          <a:xfrm>
            <a:off x="411480" y="64465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l"/>
            <a:r>
              <a:rPr lang="zh-CN" sz="9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09</a:t>
            </a:r>
          </a:p>
        </p:txBody>
      </p:sp>
      <p:sp>
        <p:nvSpPr>
          <p:cNvPr id="959" name="TextBox 959"/>
          <p:cNvSpPr txBox="1"/>
          <p:nvPr/>
        </p:nvSpPr>
        <p:spPr>
          <a:xfrm>
            <a:off x="9144000" y="64465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r"/>
            <a:r>
              <a:rPr lang="zh-CN" sz="800" b="0">
                <a:latin typeface="Microsoft YaHei"/>
                <a:ea typeface="Microsoft YaHei"/>
                <a:cs typeface="Microsoft YaHei"/>
                <a:solidFill>
                  <a:srgbClr val="6C7885"/>
                </a:solidFill>
              </a:rPr>
              <a:t>三峡大坝的历史与现在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400" name="Picture 40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1" name="Shape 4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A2E">
              <a:alpha val="7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02" name="TextBox 402"/>
          <p:cNvSpPr txBox="1"/>
          <p:nvPr/>
        </p:nvSpPr>
        <p:spPr>
          <a:xfrm>
            <a:off x="777240" y="1417320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3000" b="1">
                <a:latin typeface="Microsoft YaHei"/>
                <a:ea typeface="Microsoft YaHei"/>
                <a:cs typeface="Microsoft YaHei"/>
                <a:solidFill>
                  <a:srgbClr val="FFFFFF"/>
                </a:solidFill>
              </a:rPr>
              <a:t>从一座大坝，看见中国式现代化的治理能力</a:t>
            </a:r>
          </a:p>
        </p:txBody>
      </p:sp>
      <p:sp>
        <p:nvSpPr>
          <p:cNvPr id="403" name="Shape 403"/>
          <p:cNvSpPr/>
          <p:nvPr/>
        </p:nvSpPr>
        <p:spPr>
          <a:xfrm>
            <a:off x="4800600" y="2395728"/>
            <a:ext cx="2560320" cy="50292"/>
          </a:xfrm>
          <a:prstGeom prst="rect">
            <a:avLst/>
          </a:prstGeom>
          <a:solidFill>
            <a:srgbClr val="C51F2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" name="Shape 410"/>
          <p:cNvSpPr/>
          <p:nvPr/>
        </p:nvSpPr>
        <p:spPr>
          <a:xfrm>
            <a:off x="1143000" y="3246120"/>
            <a:ext cx="2057400" cy="1005840"/>
          </a:xfrm>
          <a:prstGeom prst="round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20" name="TextBox 420"/>
          <p:cNvSpPr txBox="1"/>
          <p:nvPr/>
        </p:nvSpPr>
        <p:spPr>
          <a:xfrm>
            <a:off x="1280160" y="342900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2000" b="1">
                <a:latin typeface="Microsoft YaHei"/>
                <a:ea typeface="Microsoft YaHei"/>
                <a:cs typeface="Microsoft YaHei"/>
                <a:solidFill>
                  <a:srgbClr val="FFFFFF"/>
                </a:solidFill>
              </a:rPr>
              <a:t>战略</a:t>
            </a:r>
          </a:p>
        </p:txBody>
      </p:sp>
      <p:sp>
        <p:nvSpPr>
          <p:cNvPr id="430" name="TextBox 430"/>
          <p:cNvSpPr txBox="1"/>
          <p:nvPr/>
        </p:nvSpPr>
        <p:spPr>
          <a:xfrm>
            <a:off x="1280160" y="3822191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950" b="0">
                <a:latin typeface="Microsoft YaHei"/>
                <a:ea typeface="Microsoft YaHei"/>
                <a:cs typeface="Microsoft YaHei"/>
                <a:solidFill>
                  <a:srgbClr val="E4EEF4"/>
                </a:solidFill>
              </a:rPr>
              <a:t>国家重大工程</a:t>
            </a:r>
          </a:p>
        </p:txBody>
      </p:sp>
      <p:sp>
        <p:nvSpPr>
          <p:cNvPr id="411" name="Shape 411"/>
          <p:cNvSpPr/>
          <p:nvPr/>
        </p:nvSpPr>
        <p:spPr>
          <a:xfrm>
            <a:off x="3794760" y="3246120"/>
            <a:ext cx="2057400" cy="1005840"/>
          </a:xfrm>
          <a:prstGeom prst="round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21" name="TextBox 421"/>
          <p:cNvSpPr txBox="1"/>
          <p:nvPr/>
        </p:nvSpPr>
        <p:spPr>
          <a:xfrm>
            <a:off x="3931920" y="342900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2000" b="1">
                <a:latin typeface="Microsoft YaHei"/>
                <a:ea typeface="Microsoft YaHei"/>
                <a:cs typeface="Microsoft YaHei"/>
                <a:solidFill>
                  <a:srgbClr val="FFFFFF"/>
                </a:solidFill>
              </a:rPr>
              <a:t>技术</a:t>
            </a:r>
          </a:p>
        </p:txBody>
      </p:sp>
      <p:sp>
        <p:nvSpPr>
          <p:cNvPr id="431" name="TextBox 431"/>
          <p:cNvSpPr txBox="1"/>
          <p:nvPr/>
        </p:nvSpPr>
        <p:spPr>
          <a:xfrm>
            <a:off x="3931920" y="3822191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950" b="0">
                <a:latin typeface="Microsoft YaHei"/>
                <a:ea typeface="Microsoft YaHei"/>
                <a:cs typeface="Microsoft YaHei"/>
                <a:solidFill>
                  <a:srgbClr val="E4EEF4"/>
                </a:solidFill>
              </a:rPr>
              <a:t>工程装备能力</a:t>
            </a:r>
          </a:p>
        </p:txBody>
      </p:sp>
      <p:sp>
        <p:nvSpPr>
          <p:cNvPr id="412" name="Shape 412"/>
          <p:cNvSpPr/>
          <p:nvPr/>
        </p:nvSpPr>
        <p:spPr>
          <a:xfrm>
            <a:off x="6446520" y="3246120"/>
            <a:ext cx="2057400" cy="1005840"/>
          </a:xfrm>
          <a:prstGeom prst="round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22" name="TextBox 422"/>
          <p:cNvSpPr txBox="1"/>
          <p:nvPr/>
        </p:nvSpPr>
        <p:spPr>
          <a:xfrm>
            <a:off x="6583680" y="342900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2000" b="1">
                <a:latin typeface="Microsoft YaHei"/>
                <a:ea typeface="Microsoft YaHei"/>
                <a:cs typeface="Microsoft YaHei"/>
                <a:solidFill>
                  <a:srgbClr val="FFFFFF"/>
                </a:solidFill>
              </a:rPr>
              <a:t>组织</a:t>
            </a:r>
          </a:p>
        </p:txBody>
      </p:sp>
      <p:sp>
        <p:nvSpPr>
          <p:cNvPr id="432" name="TextBox 432"/>
          <p:cNvSpPr txBox="1"/>
          <p:nvPr/>
        </p:nvSpPr>
        <p:spPr>
          <a:xfrm>
            <a:off x="6583680" y="3822191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950" b="0">
                <a:latin typeface="Microsoft YaHei"/>
                <a:ea typeface="Microsoft YaHei"/>
                <a:cs typeface="Microsoft YaHei"/>
                <a:solidFill>
                  <a:srgbClr val="E4EEF4"/>
                </a:solidFill>
              </a:rPr>
              <a:t>集中力量办大事</a:t>
            </a:r>
          </a:p>
        </p:txBody>
      </p:sp>
      <p:sp>
        <p:nvSpPr>
          <p:cNvPr id="413" name="Shape 413"/>
          <p:cNvSpPr/>
          <p:nvPr/>
        </p:nvSpPr>
        <p:spPr>
          <a:xfrm>
            <a:off x="9098280" y="3246120"/>
            <a:ext cx="2057400" cy="1005840"/>
          </a:xfrm>
          <a:prstGeom prst="round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23" name="TextBox 423"/>
          <p:cNvSpPr txBox="1"/>
          <p:nvPr/>
        </p:nvSpPr>
        <p:spPr>
          <a:xfrm>
            <a:off x="9235440" y="342900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2000" b="1">
                <a:latin typeface="Microsoft YaHei"/>
                <a:ea typeface="Microsoft YaHei"/>
                <a:cs typeface="Microsoft YaHei"/>
                <a:solidFill>
                  <a:srgbClr val="FFFFFF"/>
                </a:solidFill>
              </a:rPr>
              <a:t>人民</a:t>
            </a:r>
          </a:p>
        </p:txBody>
      </p:sp>
      <p:sp>
        <p:nvSpPr>
          <p:cNvPr id="433" name="TextBox 433"/>
          <p:cNvSpPr txBox="1"/>
          <p:nvPr/>
        </p:nvSpPr>
        <p:spPr>
          <a:xfrm>
            <a:off x="9235440" y="3822191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950" b="0">
                <a:latin typeface="Microsoft YaHei"/>
                <a:ea typeface="Microsoft YaHei"/>
                <a:cs typeface="Microsoft YaHei"/>
                <a:solidFill>
                  <a:srgbClr val="E4EEF4"/>
                </a:solidFill>
              </a:rPr>
              <a:t>安全与发展</a:t>
            </a:r>
          </a:p>
        </p:txBody>
      </p:sp>
      <p:sp>
        <p:nvSpPr>
          <p:cNvPr id="450" name="TextBox 450"/>
          <p:cNvSpPr txBox="1"/>
          <p:nvPr/>
        </p:nvSpPr>
        <p:spPr>
          <a:xfrm>
            <a:off x="4206240" y="5413248"/>
            <a:ext cx="3749039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/>
          <a:lstStyle/>
          <a:p>
            <a:pPr algn="ctr"/>
            <a:r>
              <a:rPr lang="zh-CN" sz="2000" b="1">
                <a:latin typeface="Microsoft YaHei"/>
                <a:ea typeface="Microsoft YaHei"/>
                <a:cs typeface="Microsoft YaHei"/>
                <a:solidFill>
                  <a:srgbClr val="FFFFFF"/>
                </a:solidFill>
              </a:rPr>
              <a:t>谢谢各位领导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reeGorgesBriefing">
  <a:themeElements>
    <a:clrScheme name="Briefing">
      <a:dk1>
        <a:srgbClr val="12345A"/>
      </a:dk1>
      <a:lt1>
        <a:srgbClr val="FFFFFF"/>
      </a:lt1>
      <a:dk2>
        <a:srgbClr val="2F3A45"/>
      </a:dk2>
      <a:lt2>
        <a:srgbClr val="F6F8FB"/>
      </a:lt2>
      <a:accent1>
        <a:srgbClr val="1E7F86"/>
      </a:accent1>
      <a:accent2>
        <a:srgbClr val="C51F2C"/>
      </a:accent2>
      <a:accent3>
        <a:srgbClr val="617586"/>
      </a:accent3>
      <a:accent4>
        <a:srgbClr val="E8EDF2"/>
      </a:accent4>
      <a:accent5>
        <a:srgbClr val="12345A"/>
      </a:accent5>
      <a:accent6>
        <a:srgbClr val="8BA7AE"/>
      </a:accent6>
      <a:hlink>
        <a:srgbClr val="1E7F86"/>
      </a:hlink>
      <a:folHlink>
        <a:srgbClr val="61758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三峡大坝的历史与现在</dc:title>
  <dc:creator>Codex</dc:creator>
  <cp:lastModifiedBy>Codex</cp:lastModifiedBy>
  <dcterms:created xsi:type="dcterms:W3CDTF">2026-05-17T06:41:27.286472+00:00</dcterms:created>
  <dcterms:modified xsi:type="dcterms:W3CDTF">2026-05-17T06:41:27.286472+00:00</dcterms:modified>
</cp:coreProperties>
</file>